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Headcount figures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Helix Grid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Grid-edge orchestration software for electric utilities</a:t>
            </a:r>
          </a:p>
          <a:p>
            <a:pPr>
              <a:defRPr sz="1600"/>
            </a:pPr>
            <a:r>
              <a:t>Series B Investor Presentation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Utilities must balance four times more distributed energy resources with dispatch tools built for one-way grids.</a:t>
            </a:r>
          </a:p>
          <a:p>
            <a:pPr>
              <a:defRPr sz="1600"/>
            </a:pPr>
            <a:r>
              <a:t>Grid operators lose an estimated $9B annually to curtailment and manual balancing.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HelixOS is in production at 38 utilities and generally available since 2023.</a:t>
            </a:r>
          </a:p>
          <a:p>
            <a:pPr>
              <a:defRPr sz="1600"/>
            </a:pPr>
            <a:r>
              <a:t>$14.2M ARR with 118% YoY growth and 78% gross margin.</a:t>
            </a:r>
          </a:p>
          <a:p>
            <a:pPr>
              <a:defRPr sz="1600"/>
            </a:pPr>
            <a:r>
              <a:t>Largest customer represents 9% of revenue; net revenue retention of 131%.</a:t>
            </a:r>
          </a:p>
          <a:p>
            <a:pPr>
              <a:defRPr sz="1600"/>
            </a:pPr>
            <a:r>
              <a:t>Processes 2.1 billion telemetry events per day across 1.4 million grid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Cloud-native microservices on Kubernetes, deployed multi-region on AWS and Azure with active-active failover.</a:t>
            </a:r>
          </a:p>
          <a:p>
            <a:pPr>
              <a:defRPr sz="1600"/>
            </a:pPr>
            <a:r>
              <a:t>Public REST and gRPC APIs with SDKs for utility integrations.</a:t>
            </a:r>
          </a:p>
          <a:p>
            <a:pPr>
              <a:defRPr sz="1600"/>
            </a:pPr>
            <a:r>
              <a:t>Infrastructure as code with Terraform; observability with Datadog and OpenTelemetry.</a:t>
            </a:r>
          </a:p>
          <a:p>
            <a:pPr>
              <a:defRPr sz="1600"/>
            </a:pPr>
            <a:r>
              <a:t>Autoscaling event pipeline load-tested to 10x current peak volume.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29768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004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Kafka event streaming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Proprietary forecasting models built in-house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PostgreSQL and TimescaleDB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CTO Dr. Maya Chen led grid software engineering at Siemens for nine years.</a:t>
            </a:r>
          </a:p>
          <a:p>
            <a:pPr>
              <a:defRPr sz="1600"/>
            </a:pPr>
            <a:r>
              <a:t>46 full-time in-house engineers across Denver and Toronto.</a:t>
            </a:r>
          </a:p>
          <a:p>
            <a:pPr>
              <a:defRPr sz="1600"/>
            </a:pPr>
            <a:r>
              <a:t>CI/CD with GitHub Actions; 84% automated test coverage; weekly releases; mandatory code reviews.</a:t>
            </a:r>
          </a:p>
          <a:p>
            <a:pPr>
              <a:defRPr sz="1600"/>
            </a:pPr>
            <a:r>
              <a:t>99.95% uptime SLA over the trailing 24 months.</a:t>
            </a:r>
          </a:p>
          <a:p>
            <a:pPr>
              <a:defRPr sz="1600"/>
            </a:pPr>
            <a:r>
              <a:t>Incident response with on-call rotation and blameless post-mortems.</a:t>
            </a:r>
          </a:p>
          <a:p>
            <a:pPr>
              <a:defRPr sz="1600"/>
            </a:pPr>
            <a:r>
              <a:t>Architecture documentation, runbooks and decision records maintained for every service.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4297680"/>
            <a:ext cx="3474720" cy="457200"/>
            <a:chOff x="548640" y="4297680"/>
            <a:chExt cx="3474720" cy="457200"/>
          </a:xfrm>
        </p:grpSpPr>
        <p:sp>
          <p:nvSpPr>
            <p:cNvPr id="5" name="TextBox 4"/>
            <p:cNvSpPr txBox="1"/>
            <p:nvPr/>
          </p:nvSpPr>
          <p:spPr>
            <a:xfrm>
              <a:off x="548640" y="4297680"/>
              <a:ext cx="34747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Engineering leadership: CTO, VP Engineering, Director of SRE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SOC 2 Type II attested annually and ISO 27001 certified.</a:t>
            </a:r>
          </a:p>
          <a:p>
            <a:pPr>
              <a:defRPr sz="1600"/>
            </a:pPr>
            <a:r>
              <a:t>Annual third-party penetration testing and a public bug bounty program.</a:t>
            </a:r>
          </a:p>
          <a:p>
            <a:pPr>
              <a:defRPr sz="1600"/>
            </a:pPr>
            <a:r>
              <a:t>Data encrypted with AES-256 at rest and TLS 1.3 in transit; SSO, MFA and role-based access control.</a:t>
            </a:r>
          </a:p>
          <a:p>
            <a:pPr>
              <a:defRPr sz="1600"/>
            </a:pPr>
            <a:r>
              <a:t>Disaster recovery tested quarterly with 15-minute RPO and 1-hour 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7 issued U.S. patents and 5 PCT applications covering forecasting and dispatch methods.</a:t>
            </a:r>
          </a:p>
          <a:p>
            <a:pPr>
              <a:defRPr sz="1600"/>
            </a:pPr>
            <a:r>
              <a:t>All patents are assigned to Helix Grid Systems, Inc.</a:t>
            </a:r>
          </a:p>
          <a:p>
            <a:pPr>
              <a:defRPr sz="1600"/>
            </a:pPr>
            <a:r>
              <a:t>All employees and contractors have signed invention assignment agreements.</a:t>
            </a:r>
          </a:p>
          <a:p>
            <a:pPr>
              <a:defRPr sz="1600"/>
            </a:pPr>
            <a:r>
              <a:t>Proprietary dataset of 11 billion labeled grid telemetry records.</a:t>
            </a:r>
          </a:p>
          <a:p>
            <a:pPr>
              <a:defRPr sz="1600"/>
            </a:pPr>
            <a:r>
              <a:t>Open-source license scanning with FOSSA in CI; no copyleft components in distributed code.</a:t>
            </a:r>
          </a:p>
          <a:p>
            <a:pPr>
              <a:defRPr sz="1600"/>
            </a:pPr>
            <a:r>
              <a:t>Independent IP and code audit completed in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Embedded in utility control-room workflows as the system of record for DER dispatch.</a:t>
            </a:r>
          </a:p>
          <a:p>
            <a:pPr>
              <a:defRPr sz="1600"/>
            </a:pPr>
            <a:r>
              <a:t>High switching costs from integrations with SCADA and ADMS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Raising $40M Series B to expand into European utilities.</a:t>
            </a:r>
          </a:p>
          <a:p>
            <a:pPr>
              <a:defRPr sz="1600"/>
            </a:pPr>
            <a:r>
              <a:t>Raised $31M to date from climate and infrastructure investors.</a:t>
            </a:r>
          </a:p>
          <a:p>
            <a:pPr>
              <a:defRPr sz="1600"/>
            </a:pPr>
            <a:r>
              <a:t>Use of funds: EU expansion, FedRAMP authorization planned for 2027, and grid-forecasting R&amp;D.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Grid Systems investor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